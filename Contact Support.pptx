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D731D-462F-DCE2-0AB9-DDECA8AE68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4EF719A-7615-AD80-7885-0F1246BEA4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30038F4-8041-6EF2-78D0-598CD63F2E0D}"/>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5" name="Footer Placeholder 4">
            <a:extLst>
              <a:ext uri="{FF2B5EF4-FFF2-40B4-BE49-F238E27FC236}">
                <a16:creationId xmlns:a16="http://schemas.microsoft.com/office/drawing/2014/main" id="{762D02D9-0FC2-28E5-B8E6-8E1DE280E2E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E49BFE-03A5-1A53-3949-73AD919F91FD}"/>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1536555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FE7DE-89A9-B8D0-9324-F49F45ACFC3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F8306F5-D46A-4ABB-1026-14D8045B90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A05A131-DC60-D35B-C6DA-E5D39275A72B}"/>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5" name="Footer Placeholder 4">
            <a:extLst>
              <a:ext uri="{FF2B5EF4-FFF2-40B4-BE49-F238E27FC236}">
                <a16:creationId xmlns:a16="http://schemas.microsoft.com/office/drawing/2014/main" id="{2070053C-013C-1A91-B4C4-E0A5B620D7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935A2C-D708-DD05-4EA6-D36884C45369}"/>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3026267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1B716-7C8F-F852-96C3-4FB25AEE77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6A8893C-2BB8-A309-63F0-7446055EAA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5FCC4D-E8AF-819B-16BB-8A94B94D25AE}"/>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5" name="Footer Placeholder 4">
            <a:extLst>
              <a:ext uri="{FF2B5EF4-FFF2-40B4-BE49-F238E27FC236}">
                <a16:creationId xmlns:a16="http://schemas.microsoft.com/office/drawing/2014/main" id="{3B3B9EDA-6947-C144-BD8D-1B8A7EDF26E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B8F29B3-2043-0927-B878-C8EB946B7CEB}"/>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3761621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C4C1-D847-EE01-ADFB-41DFD3F555E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448B01D-CEFE-B7BD-9AE3-F9C0FBF3DE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7CED564-0744-4DA6-929E-E30B65AABE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5A36DCED-96F7-B4C5-73ED-ABF5710425C3}"/>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6" name="Footer Placeholder 5">
            <a:extLst>
              <a:ext uri="{FF2B5EF4-FFF2-40B4-BE49-F238E27FC236}">
                <a16:creationId xmlns:a16="http://schemas.microsoft.com/office/drawing/2014/main" id="{ED01EEFC-096B-257B-B432-8F34A35012F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0F0E8E0-C840-A5E4-E129-C65D04BBC96C}"/>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198692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68364-7173-5FC5-A84F-5B6F6A07BAE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5FDE69-4D63-E6BF-C6FD-0BFD523999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10CF36-0139-979E-587C-3D36A269DC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C38149F-343C-C3C2-4FA1-132D5F57F8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1FD1E6-17A1-5A19-4253-C9C5087412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B10851B-19F6-4B10-0CC3-929F72EFCBB7}"/>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8" name="Footer Placeholder 7">
            <a:extLst>
              <a:ext uri="{FF2B5EF4-FFF2-40B4-BE49-F238E27FC236}">
                <a16:creationId xmlns:a16="http://schemas.microsoft.com/office/drawing/2014/main" id="{37EAD35F-9039-CB35-A905-5D5DF5B141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2F83CC8-92DB-6DFD-6D91-A5D3BBC8F15F}"/>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1665512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8EAE8-EC0D-751D-63BA-701FA65030E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6C44212-ECD9-EE0B-41C7-4C63E348EA23}"/>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4" name="Footer Placeholder 3">
            <a:extLst>
              <a:ext uri="{FF2B5EF4-FFF2-40B4-BE49-F238E27FC236}">
                <a16:creationId xmlns:a16="http://schemas.microsoft.com/office/drawing/2014/main" id="{C9C48790-842A-96D9-C254-3000F57CF07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3B486FA-D63A-314C-6723-C256F2F6D621}"/>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541718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A5C88-9C09-0AF7-43EA-1F1338CDE118}"/>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3" name="Footer Placeholder 2">
            <a:extLst>
              <a:ext uri="{FF2B5EF4-FFF2-40B4-BE49-F238E27FC236}">
                <a16:creationId xmlns:a16="http://schemas.microsoft.com/office/drawing/2014/main" id="{02CBC145-7C41-976E-7252-48D812FB87B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DE327A1-527D-24E8-1E35-2BC13A24B99A}"/>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2740192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ECB65-C653-AAC6-C0E0-ABF91B5C5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68B1996-551C-704C-F05F-10AE38B66B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8146B39C-5137-C986-735F-1549A1498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1A9B2-A176-8201-0E4F-E4AD329FC392}"/>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6" name="Footer Placeholder 5">
            <a:extLst>
              <a:ext uri="{FF2B5EF4-FFF2-40B4-BE49-F238E27FC236}">
                <a16:creationId xmlns:a16="http://schemas.microsoft.com/office/drawing/2014/main" id="{4EF43D8D-89AB-54F0-8E2C-C918CCF350E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AD1619B-222B-9EBB-DBBD-F45A77EEB4B8}"/>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2252556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4A17-3A6F-DA53-1927-E3912F1C2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F516CEC-E8AF-2860-37EA-7BA3F6F9C5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5ADB7B8-48CB-9A40-B1D8-1800CC968A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B5B13A-6F13-68D3-724A-3934EF85CCE0}"/>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6" name="Footer Placeholder 5">
            <a:extLst>
              <a:ext uri="{FF2B5EF4-FFF2-40B4-BE49-F238E27FC236}">
                <a16:creationId xmlns:a16="http://schemas.microsoft.com/office/drawing/2014/main" id="{CE78AB15-73A2-C047-24D2-AFEB8D60069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DF3E794-3A4C-7999-319B-C73DA180DB32}"/>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2410210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15C5F-6EF7-3375-E916-13F188E3F85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395784C-B0D5-1DF8-ED05-FF387AAC84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65C31DC-0D9C-0E24-56E2-376A7B277C6C}"/>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5" name="Footer Placeholder 4">
            <a:extLst>
              <a:ext uri="{FF2B5EF4-FFF2-40B4-BE49-F238E27FC236}">
                <a16:creationId xmlns:a16="http://schemas.microsoft.com/office/drawing/2014/main" id="{B0842F0D-768D-2103-AE3C-84DE603841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3B70D5E-9AD3-0392-1FA9-59E2703CB453}"/>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3302510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729A2-AF66-D4BC-EEEA-33E3DAEB3B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65D980B-CAC7-2CF3-4876-57B77E7F3B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45DECE2-ABB4-9672-616C-B81FBCCDC608}"/>
              </a:ext>
            </a:extLst>
          </p:cNvPr>
          <p:cNvSpPr>
            <a:spLocks noGrp="1"/>
          </p:cNvSpPr>
          <p:nvPr>
            <p:ph type="dt" sz="half" idx="10"/>
          </p:nvPr>
        </p:nvSpPr>
        <p:spPr/>
        <p:txBody>
          <a:bodyPr/>
          <a:lstStyle/>
          <a:p>
            <a:fld id="{E022F19F-695F-480D-BE2D-E02D06A13F00}" type="datetimeFigureOut">
              <a:rPr lang="en-AU" smtClean="0"/>
              <a:t>29/08/2026</a:t>
            </a:fld>
            <a:endParaRPr lang="en-AU"/>
          </a:p>
        </p:txBody>
      </p:sp>
      <p:sp>
        <p:nvSpPr>
          <p:cNvPr id="5" name="Footer Placeholder 4">
            <a:extLst>
              <a:ext uri="{FF2B5EF4-FFF2-40B4-BE49-F238E27FC236}">
                <a16:creationId xmlns:a16="http://schemas.microsoft.com/office/drawing/2014/main" id="{37256D7E-4372-150C-0F03-BDD7A49F832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7AAAD93-279A-D566-3110-505B04E7262F}"/>
              </a:ext>
            </a:extLst>
          </p:cNvPr>
          <p:cNvSpPr>
            <a:spLocks noGrp="1"/>
          </p:cNvSpPr>
          <p:nvPr>
            <p:ph type="sldNum" sz="quarter" idx="12"/>
          </p:nvPr>
        </p:nvSpPr>
        <p:spPr/>
        <p:txBody>
          <a:bodyPr/>
          <a:lstStyle/>
          <a:p>
            <a:fld id="{4A500A95-485C-4714-A12C-8318E8050401}" type="slidenum">
              <a:rPr lang="en-AU" smtClean="0"/>
              <a:t>‹#›</a:t>
            </a:fld>
            <a:endParaRPr lang="en-AU"/>
          </a:p>
        </p:txBody>
      </p:sp>
    </p:spTree>
    <p:extLst>
      <p:ext uri="{BB962C8B-B14F-4D97-AF65-F5344CB8AC3E}">
        <p14:creationId xmlns:p14="http://schemas.microsoft.com/office/powerpoint/2010/main" val="2676906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A578BF-858C-6EA3-A996-DB1689978D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C8A620F-C54D-B3B8-B505-4494E9AE4A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8BED3F9-9DF9-969B-1CCE-D19D64955D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22F19F-695F-480D-BE2D-E02D06A13F00}" type="datetimeFigureOut">
              <a:rPr lang="en-AU" smtClean="0"/>
              <a:t>29/08/2026</a:t>
            </a:fld>
            <a:endParaRPr lang="en-AU"/>
          </a:p>
        </p:txBody>
      </p:sp>
      <p:sp>
        <p:nvSpPr>
          <p:cNvPr id="5" name="Footer Placeholder 4">
            <a:extLst>
              <a:ext uri="{FF2B5EF4-FFF2-40B4-BE49-F238E27FC236}">
                <a16:creationId xmlns:a16="http://schemas.microsoft.com/office/drawing/2014/main" id="{E720FEE1-AFD9-A106-F844-7548DEA7C1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58CAFD-F8BE-8407-A573-6BEB3B3D71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500A95-485C-4714-A12C-8318E8050401}" type="slidenum">
              <a:rPr lang="en-AU" smtClean="0"/>
              <a:t>‹#›</a:t>
            </a:fld>
            <a:endParaRPr lang="en-AU"/>
          </a:p>
        </p:txBody>
      </p:sp>
    </p:spTree>
    <p:extLst>
      <p:ext uri="{BB962C8B-B14F-4D97-AF65-F5344CB8AC3E}">
        <p14:creationId xmlns:p14="http://schemas.microsoft.com/office/powerpoint/2010/main" val="3817218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Sale%20inquiries:%20sales@evse.com.au" TargetMode="Externa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mailto:Support%20inquiries:%20help@evse.com.au"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717CDC-C895-D264-9557-8242E01EE840}"/>
              </a:ext>
            </a:extLst>
          </p:cNvPr>
          <p:cNvPicPr>
            <a:picLocks noChangeAspect="1"/>
          </p:cNvPicPr>
          <p:nvPr/>
        </p:nvPicPr>
        <p:blipFill>
          <a:blip r:embed="rId2"/>
          <a:stretch>
            <a:fillRect/>
          </a:stretch>
        </p:blipFill>
        <p:spPr>
          <a:xfrm>
            <a:off x="463152" y="81197"/>
            <a:ext cx="3873519" cy="1701884"/>
          </a:xfrm>
          <a:prstGeom prst="rect">
            <a:avLst/>
          </a:prstGeom>
        </p:spPr>
      </p:pic>
      <p:pic>
        <p:nvPicPr>
          <p:cNvPr id="9" name="Picture 8">
            <a:extLst>
              <a:ext uri="{FF2B5EF4-FFF2-40B4-BE49-F238E27FC236}">
                <a16:creationId xmlns:a16="http://schemas.microsoft.com/office/drawing/2014/main" id="{A6AFA788-E1B3-0CEE-C3A1-5F374273BC8B}"/>
              </a:ext>
            </a:extLst>
          </p:cNvPr>
          <p:cNvPicPr>
            <a:picLocks noChangeAspect="1"/>
          </p:cNvPicPr>
          <p:nvPr/>
        </p:nvPicPr>
        <p:blipFill>
          <a:blip r:embed="rId3"/>
          <a:stretch>
            <a:fillRect/>
          </a:stretch>
        </p:blipFill>
        <p:spPr>
          <a:xfrm>
            <a:off x="380856" y="2042744"/>
            <a:ext cx="3955815" cy="993064"/>
          </a:xfrm>
          <a:prstGeom prst="rect">
            <a:avLst/>
          </a:prstGeom>
        </p:spPr>
      </p:pic>
      <p:cxnSp>
        <p:nvCxnSpPr>
          <p:cNvPr id="11" name="Connector: Elbow 10">
            <a:extLst>
              <a:ext uri="{FF2B5EF4-FFF2-40B4-BE49-F238E27FC236}">
                <a16:creationId xmlns:a16="http://schemas.microsoft.com/office/drawing/2014/main" id="{5712D5C0-4E98-852C-9B02-61030E556386}"/>
              </a:ext>
            </a:extLst>
          </p:cNvPr>
          <p:cNvCxnSpPr>
            <a:cxnSpLocks/>
            <a:endCxn id="9" idx="1"/>
          </p:cNvCxnSpPr>
          <p:nvPr/>
        </p:nvCxnSpPr>
        <p:spPr>
          <a:xfrm rot="16200000" flipH="1">
            <a:off x="-396385" y="1762035"/>
            <a:ext cx="1457090" cy="9739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DE38525-E32E-6DC2-C1AF-F14C644259B6}"/>
              </a:ext>
            </a:extLst>
          </p:cNvPr>
          <p:cNvCxnSpPr>
            <a:cxnSpLocks/>
          </p:cNvCxnSpPr>
          <p:nvPr/>
        </p:nvCxnSpPr>
        <p:spPr>
          <a:xfrm flipH="1">
            <a:off x="261984" y="1081637"/>
            <a:ext cx="197976" cy="549"/>
          </a:xfrm>
          <a:prstGeom prst="line">
            <a:avLst/>
          </a:prstGeom>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1C94B4CF-F18E-16B3-3989-2065E2FA15EB}"/>
              </a:ext>
            </a:extLst>
          </p:cNvPr>
          <p:cNvGrpSpPr/>
          <p:nvPr/>
        </p:nvGrpSpPr>
        <p:grpSpPr>
          <a:xfrm>
            <a:off x="4687287" y="53765"/>
            <a:ext cx="6596553" cy="4209657"/>
            <a:chOff x="77600" y="13179"/>
            <a:chExt cx="9219552" cy="6067425"/>
          </a:xfrm>
        </p:grpSpPr>
        <p:pic>
          <p:nvPicPr>
            <p:cNvPr id="21" name="Picture 20">
              <a:extLst>
                <a:ext uri="{FF2B5EF4-FFF2-40B4-BE49-F238E27FC236}">
                  <a16:creationId xmlns:a16="http://schemas.microsoft.com/office/drawing/2014/main" id="{A0A8E630-3B9B-A5A2-1345-93564C38819D}"/>
                </a:ext>
              </a:extLst>
            </p:cNvPr>
            <p:cNvPicPr>
              <a:picLocks noChangeAspect="1"/>
            </p:cNvPicPr>
            <p:nvPr/>
          </p:nvPicPr>
          <p:blipFill>
            <a:blip r:embed="rId4"/>
            <a:stretch>
              <a:fillRect/>
            </a:stretch>
          </p:blipFill>
          <p:spPr>
            <a:xfrm>
              <a:off x="77600" y="13179"/>
              <a:ext cx="3592547" cy="6067425"/>
            </a:xfrm>
            <a:prstGeom prst="rect">
              <a:avLst/>
            </a:prstGeom>
          </p:spPr>
        </p:pic>
        <p:pic>
          <p:nvPicPr>
            <p:cNvPr id="22" name="Picture 21">
              <a:extLst>
                <a:ext uri="{FF2B5EF4-FFF2-40B4-BE49-F238E27FC236}">
                  <a16:creationId xmlns:a16="http://schemas.microsoft.com/office/drawing/2014/main" id="{32D523EA-9651-3D64-A21E-4D5FAF4FBF2F}"/>
                </a:ext>
              </a:extLst>
            </p:cNvPr>
            <p:cNvPicPr>
              <a:picLocks noChangeAspect="1"/>
            </p:cNvPicPr>
            <p:nvPr/>
          </p:nvPicPr>
          <p:blipFill>
            <a:blip r:embed="rId5"/>
            <a:stretch>
              <a:fillRect/>
            </a:stretch>
          </p:blipFill>
          <p:spPr>
            <a:xfrm>
              <a:off x="3905250" y="56734"/>
              <a:ext cx="5391902" cy="5953956"/>
            </a:xfrm>
            <a:prstGeom prst="rect">
              <a:avLst/>
            </a:prstGeom>
          </p:spPr>
        </p:pic>
      </p:grpSp>
      <p:cxnSp>
        <p:nvCxnSpPr>
          <p:cNvPr id="24" name="Connector: Elbow 23">
            <a:extLst>
              <a:ext uri="{FF2B5EF4-FFF2-40B4-BE49-F238E27FC236}">
                <a16:creationId xmlns:a16="http://schemas.microsoft.com/office/drawing/2014/main" id="{B7B4EF42-78DD-F8BB-A60A-6D30C8A445DE}"/>
              </a:ext>
            </a:extLst>
          </p:cNvPr>
          <p:cNvCxnSpPr>
            <a:stCxn id="9" idx="3"/>
            <a:endCxn id="21" idx="1"/>
          </p:cNvCxnSpPr>
          <p:nvPr/>
        </p:nvCxnSpPr>
        <p:spPr>
          <a:xfrm flipV="1">
            <a:off x="4336671" y="2158594"/>
            <a:ext cx="350616" cy="3806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1DD5D173-8EB8-9F47-EA88-BCE2BA78CF28}"/>
              </a:ext>
            </a:extLst>
          </p:cNvPr>
          <p:cNvPicPr>
            <a:picLocks noChangeAspect="1"/>
          </p:cNvPicPr>
          <p:nvPr/>
        </p:nvPicPr>
        <p:blipFill>
          <a:blip r:embed="rId6"/>
          <a:stretch>
            <a:fillRect/>
          </a:stretch>
        </p:blipFill>
        <p:spPr>
          <a:xfrm>
            <a:off x="11119066" y="4465238"/>
            <a:ext cx="871804" cy="1896020"/>
          </a:xfrm>
          <a:prstGeom prst="rect">
            <a:avLst/>
          </a:prstGeom>
        </p:spPr>
      </p:pic>
      <p:cxnSp>
        <p:nvCxnSpPr>
          <p:cNvPr id="28" name="Connector: Elbow 27">
            <a:extLst>
              <a:ext uri="{FF2B5EF4-FFF2-40B4-BE49-F238E27FC236}">
                <a16:creationId xmlns:a16="http://schemas.microsoft.com/office/drawing/2014/main" id="{3649338B-6CF3-E26F-F924-016255E459C0}"/>
              </a:ext>
            </a:extLst>
          </p:cNvPr>
          <p:cNvCxnSpPr>
            <a:cxnSpLocks/>
          </p:cNvCxnSpPr>
          <p:nvPr/>
        </p:nvCxnSpPr>
        <p:spPr>
          <a:xfrm rot="16200000" flipH="1">
            <a:off x="10398438" y="3501198"/>
            <a:ext cx="2298109" cy="527304"/>
          </a:xfrm>
          <a:prstGeom prst="bentConnector3">
            <a:avLst>
              <a:gd name="adj1" fmla="val 1059"/>
            </a:avLst>
          </a:prstGeom>
          <a:ln>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9FE5448F-71A7-2D5E-30E4-2214DAF77A63}"/>
              </a:ext>
            </a:extLst>
          </p:cNvPr>
          <p:cNvPicPr>
            <a:picLocks noChangeAspect="1"/>
          </p:cNvPicPr>
          <p:nvPr/>
        </p:nvPicPr>
        <p:blipFill>
          <a:blip r:embed="rId7"/>
          <a:stretch>
            <a:fillRect/>
          </a:stretch>
        </p:blipFill>
        <p:spPr>
          <a:xfrm>
            <a:off x="7552182" y="4465238"/>
            <a:ext cx="1419403" cy="1594145"/>
          </a:xfrm>
          <a:prstGeom prst="rect">
            <a:avLst/>
          </a:prstGeom>
        </p:spPr>
      </p:pic>
      <p:cxnSp>
        <p:nvCxnSpPr>
          <p:cNvPr id="41" name="Connector: Elbow 40">
            <a:extLst>
              <a:ext uri="{FF2B5EF4-FFF2-40B4-BE49-F238E27FC236}">
                <a16:creationId xmlns:a16="http://schemas.microsoft.com/office/drawing/2014/main" id="{191B0F89-1C15-3790-B9C4-B6B3F294B61D}"/>
              </a:ext>
            </a:extLst>
          </p:cNvPr>
          <p:cNvCxnSpPr>
            <a:cxnSpLocks/>
            <a:endCxn id="32" idx="1"/>
          </p:cNvCxnSpPr>
          <p:nvPr/>
        </p:nvCxnSpPr>
        <p:spPr>
          <a:xfrm rot="16200000" flipH="1">
            <a:off x="6100415" y="3810543"/>
            <a:ext cx="2723033" cy="18050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758BA489-675D-8321-31D9-F6CD6616ABF7}"/>
              </a:ext>
            </a:extLst>
          </p:cNvPr>
          <p:cNvCxnSpPr/>
          <p:nvPr/>
        </p:nvCxnSpPr>
        <p:spPr>
          <a:xfrm>
            <a:off x="7425955" y="2539276"/>
            <a:ext cx="282437" cy="0"/>
          </a:xfrm>
          <a:prstGeom prst="line">
            <a:avLst/>
          </a:prstGeom>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FA94F1A8-F0D4-B1D6-65E8-838C233055C5}"/>
              </a:ext>
            </a:extLst>
          </p:cNvPr>
          <p:cNvSpPr txBox="1"/>
          <p:nvPr/>
        </p:nvSpPr>
        <p:spPr>
          <a:xfrm>
            <a:off x="106251" y="3360528"/>
            <a:ext cx="3533772" cy="461665"/>
          </a:xfrm>
          <a:prstGeom prst="rect">
            <a:avLst/>
          </a:prstGeom>
          <a:noFill/>
        </p:spPr>
        <p:txBody>
          <a:bodyPr wrap="square">
            <a:spAutoFit/>
          </a:bodyPr>
          <a:lstStyle/>
          <a:p>
            <a:pPr marL="342900" marR="0" lvl="0" indent="-342900" algn="l">
              <a:buFont typeface="Arial" panose="020B0604020202020204" pitchFamily="34" charset="0"/>
              <a:buChar char="•"/>
            </a:pPr>
            <a:r>
              <a:rPr lang="en-AU" sz="1200" b="0" i="0" u="sng" strike="noStrike" dirty="0">
                <a:solidFill>
                  <a:srgbClr val="1591DC"/>
                </a:solidFill>
                <a:effectLst/>
                <a:latin typeface="Barlow" panose="00000500000000000000" pitchFamily="2" charset="0"/>
                <a:hlinkClick r:id="rId8"/>
              </a:rPr>
              <a:t>Sale inquiries: sales@BexaVolt.com.au</a:t>
            </a:r>
            <a:endParaRPr lang="en-AU" sz="1200" b="0" i="0" u="sng" dirty="0">
              <a:solidFill>
                <a:srgbClr val="212529"/>
              </a:solidFill>
              <a:effectLst/>
              <a:latin typeface="Barlow" panose="00000500000000000000" pitchFamily="2" charset="0"/>
            </a:endParaRPr>
          </a:p>
          <a:p>
            <a:pPr marL="342900" marR="0" lvl="0" indent="-342900" algn="l">
              <a:buFont typeface="Arial" panose="020B0604020202020204" pitchFamily="34" charset="0"/>
              <a:buChar char="•"/>
            </a:pPr>
            <a:r>
              <a:rPr lang="en-AU" sz="1200" b="0" i="0" u="sng" strike="noStrike" dirty="0">
                <a:solidFill>
                  <a:srgbClr val="151F2B"/>
                </a:solidFill>
                <a:effectLst/>
                <a:latin typeface="Barlow" panose="00000500000000000000" pitchFamily="2" charset="0"/>
                <a:hlinkClick r:id="rId9"/>
              </a:rPr>
              <a:t>Support inquiries: Support@BexaVolt.com.au</a:t>
            </a:r>
            <a:endParaRPr lang="en-AU" sz="1200" b="0" i="0" u="sng" dirty="0">
              <a:solidFill>
                <a:srgbClr val="212529"/>
              </a:solidFill>
              <a:effectLst/>
              <a:latin typeface="Barlow" panose="00000500000000000000" pitchFamily="2" charset="0"/>
            </a:endParaRPr>
          </a:p>
        </p:txBody>
      </p:sp>
    </p:spTree>
    <p:extLst>
      <p:ext uri="{BB962C8B-B14F-4D97-AF65-F5344CB8AC3E}">
        <p14:creationId xmlns:p14="http://schemas.microsoft.com/office/powerpoint/2010/main" val="3711934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45873-847F-4456-B9E3-9BAE0809043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95958C7-8F38-515B-D703-A40052F6081B}"/>
              </a:ext>
            </a:extLst>
          </p:cNvPr>
          <p:cNvPicPr>
            <a:picLocks noChangeAspect="1"/>
          </p:cNvPicPr>
          <p:nvPr/>
        </p:nvPicPr>
        <p:blipFill>
          <a:blip r:embed="rId2"/>
          <a:stretch>
            <a:fillRect/>
          </a:stretch>
        </p:blipFill>
        <p:spPr>
          <a:xfrm>
            <a:off x="463152" y="81197"/>
            <a:ext cx="3873519" cy="1701884"/>
          </a:xfrm>
          <a:prstGeom prst="rect">
            <a:avLst/>
          </a:prstGeom>
        </p:spPr>
      </p:pic>
      <p:sp>
        <p:nvSpPr>
          <p:cNvPr id="2" name="TextBox 1">
            <a:extLst>
              <a:ext uri="{FF2B5EF4-FFF2-40B4-BE49-F238E27FC236}">
                <a16:creationId xmlns:a16="http://schemas.microsoft.com/office/drawing/2014/main" id="{91269049-5363-B373-52AD-2C171E396E8E}"/>
              </a:ext>
            </a:extLst>
          </p:cNvPr>
          <p:cNvSpPr txBox="1"/>
          <p:nvPr/>
        </p:nvSpPr>
        <p:spPr>
          <a:xfrm>
            <a:off x="4700016" y="932139"/>
            <a:ext cx="1728358" cy="2308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900" dirty="0"/>
              <a:t>FAQs : </a:t>
            </a:r>
            <a:r>
              <a:rPr lang="en-US" sz="900" dirty="0" err="1"/>
              <a:t>BexaVolt_FAQ_</a:t>
            </a:r>
            <a:r>
              <a:rPr lang="en-US" sz="900" dirty="0" err="1">
                <a:ln>
                  <a:solidFill>
                    <a:srgbClr val="FFC000"/>
                  </a:solidFill>
                </a:ln>
              </a:rPr>
              <a:t>Website</a:t>
            </a:r>
            <a:r>
              <a:rPr lang="en-US" sz="900" dirty="0"/>
              <a:t> </a:t>
            </a:r>
            <a:endParaRPr lang="en-AU" sz="900" dirty="0"/>
          </a:p>
        </p:txBody>
      </p:sp>
      <p:cxnSp>
        <p:nvCxnSpPr>
          <p:cNvPr id="4" name="Connector: Elbow 3">
            <a:extLst>
              <a:ext uri="{FF2B5EF4-FFF2-40B4-BE49-F238E27FC236}">
                <a16:creationId xmlns:a16="http://schemas.microsoft.com/office/drawing/2014/main" id="{EB7DC8CE-61C2-5ED6-394A-3E9C0FE67AF2}"/>
              </a:ext>
            </a:extLst>
          </p:cNvPr>
          <p:cNvCxnSpPr>
            <a:cxnSpLocks/>
            <a:endCxn id="2" idx="1"/>
          </p:cNvCxnSpPr>
          <p:nvPr/>
        </p:nvCxnSpPr>
        <p:spPr>
          <a:xfrm>
            <a:off x="3218688" y="1047555"/>
            <a:ext cx="1481328" cy="12700"/>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Connector: Elbow 13">
            <a:extLst>
              <a:ext uri="{FF2B5EF4-FFF2-40B4-BE49-F238E27FC236}">
                <a16:creationId xmlns:a16="http://schemas.microsoft.com/office/drawing/2014/main" id="{33D87A45-B7F2-7249-2EFF-F2A38036CF2F}"/>
              </a:ext>
            </a:extLst>
          </p:cNvPr>
          <p:cNvCxnSpPr>
            <a:cxnSpLocks/>
          </p:cNvCxnSpPr>
          <p:nvPr/>
        </p:nvCxnSpPr>
        <p:spPr>
          <a:xfrm rot="16200000" flipH="1">
            <a:off x="-178858" y="1687618"/>
            <a:ext cx="1208108" cy="41148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86E32AB-994C-E68C-AD6A-2F852D3D440B}"/>
              </a:ext>
            </a:extLst>
          </p:cNvPr>
          <p:cNvCxnSpPr/>
          <p:nvPr/>
        </p:nvCxnSpPr>
        <p:spPr>
          <a:xfrm flipH="1">
            <a:off x="219456" y="1289304"/>
            <a:ext cx="243696"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F449C18-AB05-8368-92B1-A3FB0E026E91}"/>
              </a:ext>
            </a:extLst>
          </p:cNvPr>
          <p:cNvSpPr txBox="1"/>
          <p:nvPr/>
        </p:nvSpPr>
        <p:spPr>
          <a:xfrm>
            <a:off x="143256" y="2497412"/>
            <a:ext cx="1516762" cy="2308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900" dirty="0"/>
              <a:t>Remove the System Status</a:t>
            </a:r>
            <a:endParaRPr lang="en-AU" sz="900" dirty="0"/>
          </a:p>
        </p:txBody>
      </p:sp>
      <p:cxnSp>
        <p:nvCxnSpPr>
          <p:cNvPr id="29" name="Connector: Elbow 28">
            <a:extLst>
              <a:ext uri="{FF2B5EF4-FFF2-40B4-BE49-F238E27FC236}">
                <a16:creationId xmlns:a16="http://schemas.microsoft.com/office/drawing/2014/main" id="{EEB3ECF9-26A6-14AD-0EE5-171F9C49D948}"/>
              </a:ext>
            </a:extLst>
          </p:cNvPr>
          <p:cNvCxnSpPr/>
          <p:nvPr/>
        </p:nvCxnSpPr>
        <p:spPr>
          <a:xfrm>
            <a:off x="1536192" y="1554480"/>
            <a:ext cx="923544" cy="69494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39F78DC-C148-88FE-DAD6-E7E13A727898}"/>
              </a:ext>
            </a:extLst>
          </p:cNvPr>
          <p:cNvSpPr txBox="1"/>
          <p:nvPr/>
        </p:nvSpPr>
        <p:spPr>
          <a:xfrm>
            <a:off x="2505456" y="2134008"/>
            <a:ext cx="1457450" cy="230832"/>
          </a:xfrm>
          <a:prstGeom prst="rect">
            <a:avLst/>
          </a:prstGeom>
          <a:solidFill>
            <a:srgbClr val="FFC000"/>
          </a:solidFill>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900" dirty="0"/>
              <a:t>Continue the Quote page </a:t>
            </a:r>
            <a:endParaRPr lang="en-AU" sz="900" dirty="0"/>
          </a:p>
        </p:txBody>
      </p:sp>
      <p:sp>
        <p:nvSpPr>
          <p:cNvPr id="34" name="TextBox 33">
            <a:extLst>
              <a:ext uri="{FF2B5EF4-FFF2-40B4-BE49-F238E27FC236}">
                <a16:creationId xmlns:a16="http://schemas.microsoft.com/office/drawing/2014/main" id="{44C250AE-0FD8-5EED-008A-77B4CB252A9D}"/>
              </a:ext>
            </a:extLst>
          </p:cNvPr>
          <p:cNvSpPr txBox="1"/>
          <p:nvPr/>
        </p:nvSpPr>
        <p:spPr>
          <a:xfrm>
            <a:off x="4957332" y="1439064"/>
            <a:ext cx="2840842" cy="2308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900" dirty="0"/>
              <a:t>Remove both (Knowledge hub and Community Forum</a:t>
            </a:r>
            <a:endParaRPr lang="en-AU" sz="900" dirty="0"/>
          </a:p>
        </p:txBody>
      </p:sp>
      <p:cxnSp>
        <p:nvCxnSpPr>
          <p:cNvPr id="36" name="Connector: Elbow 35">
            <a:extLst>
              <a:ext uri="{FF2B5EF4-FFF2-40B4-BE49-F238E27FC236}">
                <a16:creationId xmlns:a16="http://schemas.microsoft.com/office/drawing/2014/main" id="{8FB6D87A-EF1C-577E-3CD4-6632AD97E320}"/>
              </a:ext>
            </a:extLst>
          </p:cNvPr>
          <p:cNvCxnSpPr>
            <a:stCxn id="34" idx="1"/>
          </p:cNvCxnSpPr>
          <p:nvPr/>
        </p:nvCxnSpPr>
        <p:spPr>
          <a:xfrm rot="10800000">
            <a:off x="3849624" y="1289304"/>
            <a:ext cx="1107708" cy="265176"/>
          </a:xfrm>
          <a:prstGeom prst="bent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31260986-109D-CD5B-E4EC-FD27489F9B77}"/>
              </a:ext>
            </a:extLst>
          </p:cNvPr>
          <p:cNvCxnSpPr>
            <a:stCxn id="34" idx="1"/>
          </p:cNvCxnSpPr>
          <p:nvPr/>
        </p:nvCxnSpPr>
        <p:spPr>
          <a:xfrm rot="10800000">
            <a:off x="3959352" y="1554480"/>
            <a:ext cx="997980" cy="12700"/>
          </a:xfrm>
          <a:prstGeom prst="bent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1619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BC546B5-1D42-8BC5-712E-487E7C378C48}"/>
              </a:ext>
            </a:extLst>
          </p:cNvPr>
          <p:cNvSpPr txBox="1"/>
          <p:nvPr/>
        </p:nvSpPr>
        <p:spPr>
          <a:xfrm>
            <a:off x="413766" y="842971"/>
            <a:ext cx="10931652" cy="566308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indent="0" algn="ctr">
              <a:buNone/>
            </a:pPr>
            <a:endParaRPr lang="en-AU" b="1" i="0" dirty="0">
              <a:solidFill>
                <a:srgbClr val="212529"/>
              </a:solidFill>
              <a:effectLst/>
              <a:latin typeface="Barlow" panose="00000500000000000000" pitchFamily="2" charset="0"/>
            </a:endParaRPr>
          </a:p>
          <a:p>
            <a:pPr indent="0">
              <a:buNone/>
            </a:pPr>
            <a:r>
              <a:rPr lang="en-AU" sz="1200" b="1" i="0" dirty="0">
                <a:solidFill>
                  <a:srgbClr val="212529"/>
                </a:solidFill>
                <a:effectLst/>
                <a:latin typeface="Barlow" panose="00000500000000000000" pitchFamily="2" charset="0"/>
              </a:rPr>
              <a:t>Get an EV Charger and Installation Quote</a:t>
            </a:r>
            <a:endParaRPr lang="en-AU" sz="1200" b="0" i="0" dirty="0">
              <a:solidFill>
                <a:srgbClr val="212529"/>
              </a:solidFill>
              <a:effectLst/>
              <a:latin typeface="Barlow" panose="00000500000000000000" pitchFamily="2" charset="0"/>
            </a:endParaRPr>
          </a:p>
          <a:p>
            <a:r>
              <a:rPr lang="en-AU" sz="800" dirty="0"/>
              <a:t>Get a clear estimate for your home EV charger installation with </a:t>
            </a:r>
            <a:r>
              <a:rPr lang="en-AU" sz="800" dirty="0" err="1"/>
              <a:t>BexaVolt’s</a:t>
            </a:r>
            <a:r>
              <a:rPr lang="en-AU" sz="800" dirty="0"/>
              <a:t> quick and easy online estimator. Whether you need a high-quality standard charging station or an advanced optimised solution, our nationwide service makes EV charging accessible to homes across Australia.</a:t>
            </a:r>
          </a:p>
          <a:p>
            <a:endParaRPr lang="en-AU" sz="800" dirty="0"/>
          </a:p>
          <a:p>
            <a:r>
              <a:rPr lang="en-AU" sz="800" dirty="0"/>
              <a:t>Simply complete the form and submit your details. Our team will review your requirements and confirm your installation price within 48 hours.</a:t>
            </a:r>
          </a:p>
          <a:p>
            <a:pPr indent="0">
              <a:buNone/>
            </a:pPr>
            <a:endParaRPr lang="en-AU" sz="800" b="0" i="0" dirty="0">
              <a:solidFill>
                <a:srgbClr val="212529"/>
              </a:solidFill>
              <a:effectLst/>
            </a:endParaRPr>
          </a:p>
          <a:p>
            <a:pPr indent="0">
              <a:buNone/>
            </a:pPr>
            <a:r>
              <a:rPr lang="en-AU" sz="800" dirty="0" err="1"/>
              <a:t>BexaVolt’s</a:t>
            </a:r>
            <a:r>
              <a:rPr lang="en-AU" sz="800" dirty="0"/>
              <a:t> EV charger installation estimator gives you a quick and reliable indication of the cost of installing a home charging solution. From high-quality standard EV chargers to advanced optimised systems, we offer solutions to suit a wide range of homes and energy needs. With nationwide installation services, </a:t>
            </a:r>
            <a:r>
              <a:rPr lang="en-AU" sz="800" dirty="0" err="1"/>
              <a:t>BexaVolt</a:t>
            </a:r>
            <a:r>
              <a:rPr lang="en-AU" sz="800" dirty="0"/>
              <a:t> makes it easier for Australians to charge their electric vehicles safely and conveniently at home.</a:t>
            </a:r>
          </a:p>
          <a:p>
            <a:pPr indent="0">
              <a:buNone/>
            </a:pPr>
            <a:endParaRPr lang="en-AU" sz="1200" dirty="0"/>
          </a:p>
          <a:p>
            <a:pPr indent="0">
              <a:buNone/>
            </a:pPr>
            <a:r>
              <a:rPr lang="en-AU" sz="1200" b="1" i="0" dirty="0">
                <a:solidFill>
                  <a:srgbClr val="212529"/>
                </a:solidFill>
                <a:effectLst/>
                <a:latin typeface="Barlow" panose="00000500000000000000" pitchFamily="2" charset="0"/>
              </a:rPr>
              <a:t>A beginner’s guide to home EV chargers.</a:t>
            </a:r>
          </a:p>
          <a:p>
            <a:pPr indent="0" algn="ctr">
              <a:buNone/>
            </a:pPr>
            <a:endParaRPr lang="en-AU" sz="1200" b="0" i="0" dirty="0">
              <a:solidFill>
                <a:srgbClr val="212529"/>
              </a:solidFill>
              <a:effectLst/>
              <a:latin typeface="Barlow" panose="00000500000000000000" pitchFamily="2" charset="0"/>
            </a:endParaRPr>
          </a:p>
          <a:p>
            <a:r>
              <a:rPr lang="en-AU" sz="800" b="1" dirty="0"/>
              <a:t>Choosing the Right EV Charger</a:t>
            </a:r>
          </a:p>
          <a:p>
            <a:endParaRPr lang="en-AU" sz="800" dirty="0"/>
          </a:p>
          <a:p>
            <a:r>
              <a:rPr lang="en-AU" sz="800" dirty="0"/>
              <a:t>Choosing an EV charger depends on your vehicle, your home’s electrical capacity and how you plan to charge. Here are the key factors to consider.</a:t>
            </a:r>
          </a:p>
          <a:p>
            <a:endParaRPr lang="en-AU" sz="800" dirty="0"/>
          </a:p>
          <a:p>
            <a:r>
              <a:rPr lang="en-AU" sz="800" b="1" dirty="0"/>
              <a:t>1. What charging speed do I need?</a:t>
            </a:r>
          </a:p>
          <a:p>
            <a:r>
              <a:rPr lang="en-AU" sz="800" dirty="0"/>
              <a:t>Most EVs are charged at home overnight, often for around eight hours. This means the fastest charger is not always necessary the longer your vehicle remains parked, the less charging power you may need.</a:t>
            </a:r>
          </a:p>
          <a:p>
            <a:r>
              <a:rPr lang="en-AU" sz="800" dirty="0"/>
              <a:t>As a general guide:</a:t>
            </a:r>
          </a:p>
          <a:p>
            <a:endParaRPr lang="en-AU" sz="800" dirty="0"/>
          </a:p>
          <a:p>
            <a:pPr marL="171450" lvl="0" indent="-171450">
              <a:buFont typeface="Wingdings" panose="05000000000000000000" pitchFamily="2" charset="2"/>
              <a:buChar char="§"/>
            </a:pPr>
            <a:r>
              <a:rPr lang="en-AU" sz="800" dirty="0"/>
              <a:t>A 7 kW charger can add approximately 40 km of driving range per hour.</a:t>
            </a:r>
          </a:p>
          <a:p>
            <a:pPr marL="171450" lvl="0" indent="-171450">
              <a:buFont typeface="Wingdings" panose="05000000000000000000" pitchFamily="2" charset="2"/>
              <a:buChar char="§"/>
            </a:pPr>
            <a:r>
              <a:rPr lang="en-AU" sz="800" dirty="0"/>
              <a:t>A 22 kW charger can add up to approximately 120 km of driving range per hour.</a:t>
            </a:r>
          </a:p>
          <a:p>
            <a:pPr lvl="0"/>
            <a:endParaRPr lang="en-AU" sz="800" dirty="0"/>
          </a:p>
          <a:p>
            <a:r>
              <a:rPr lang="en-AU" sz="800" dirty="0"/>
              <a:t>Actual charging speeds will depend on your vehicle’s onboard charging capacity, your property’s electrical supply and other installation factors.</a:t>
            </a:r>
          </a:p>
          <a:p>
            <a:endParaRPr lang="en-AU" sz="800" dirty="0"/>
          </a:p>
          <a:p>
            <a:r>
              <a:rPr lang="en-AU" sz="800" b="1" dirty="0"/>
              <a:t>2. Which charging plug does my vehicle use?</a:t>
            </a:r>
          </a:p>
          <a:p>
            <a:r>
              <a:rPr lang="en-AU" sz="800" dirty="0"/>
              <a:t>Most modern EVs have ports for both AC (alternating current) and DC (direct current) charging.</a:t>
            </a:r>
          </a:p>
          <a:p>
            <a:r>
              <a:rPr lang="en-AU" sz="800" dirty="0"/>
              <a:t>Home charging is generally completed through the vehicle’s AC port. DC fast chargers require significantly more power and specialised infrastructure, making them better suited to commercial and public charging locations.</a:t>
            </a:r>
          </a:p>
          <a:p>
            <a:r>
              <a:rPr lang="en-AU" sz="800" dirty="0"/>
              <a:t>Before selecting a charger, confirm that it is compatible with your vehicle’s connection type and maximum AC charging capacity.</a:t>
            </a:r>
          </a:p>
          <a:p>
            <a:endParaRPr lang="en-AU" sz="800" dirty="0"/>
          </a:p>
          <a:p>
            <a:r>
              <a:rPr lang="en-AU" sz="800" b="1" dirty="0"/>
              <a:t>3. Who can install my EV charger?</a:t>
            </a:r>
          </a:p>
          <a:p>
            <a:r>
              <a:rPr lang="en-AU" sz="800" dirty="0"/>
              <a:t>An EV charging station must be installed by a qualified and licensed electrician. Choose an electrician with EV charger installation experience who will follow the manufacturer’s instructions and all relevant electrical requirements.</a:t>
            </a:r>
          </a:p>
          <a:p>
            <a:r>
              <a:rPr lang="en-AU" sz="800" dirty="0"/>
              <a:t>Correct cable sizing and circuit protection are essential for the charger’s safety, reliability and performance.</a:t>
            </a:r>
          </a:p>
          <a:p>
            <a:endParaRPr lang="en-AU" sz="800" dirty="0"/>
          </a:p>
          <a:p>
            <a:r>
              <a:rPr lang="en-AU" sz="800" b="1" dirty="0"/>
              <a:t>4. How much will installation cost?</a:t>
            </a:r>
          </a:p>
          <a:p>
            <a:r>
              <a:rPr lang="en-AU" sz="800" dirty="0"/>
              <a:t>Installation costs depend on your property and the location of the charger. Important considerations include:</a:t>
            </a:r>
          </a:p>
          <a:p>
            <a:pPr lvl="0"/>
            <a:r>
              <a:rPr lang="en-AU" sz="800" dirty="0"/>
              <a:t>The distance between the parking area and the switchboard</a:t>
            </a:r>
          </a:p>
          <a:p>
            <a:pPr lvl="0"/>
            <a:r>
              <a:rPr lang="en-AU" sz="800" dirty="0"/>
              <a:t>The available capacity of your electrical system</a:t>
            </a:r>
          </a:p>
          <a:p>
            <a:pPr lvl="0"/>
            <a:r>
              <a:rPr lang="en-AU" sz="800" dirty="0"/>
              <a:t>Whether trenching or other groundwork is required</a:t>
            </a:r>
          </a:p>
          <a:p>
            <a:pPr lvl="0"/>
            <a:r>
              <a:rPr lang="en-AU" sz="800" dirty="0"/>
              <a:t>Whether the charger will be wall-mounted or installed on a pedestal</a:t>
            </a:r>
          </a:p>
          <a:p>
            <a:pPr lvl="0"/>
            <a:r>
              <a:rPr lang="en-AU" sz="800" dirty="0"/>
              <a:t>Whether switchboard upgrades or additional electrical work are needed</a:t>
            </a:r>
          </a:p>
          <a:p>
            <a:r>
              <a:rPr lang="en-AU" sz="800" dirty="0" err="1"/>
              <a:t>BexaVolt</a:t>
            </a:r>
            <a:r>
              <a:rPr lang="en-AU" sz="800" dirty="0"/>
              <a:t> recommends choosing a convenient everyday charging location and an installation designed to support your future EV charging needs.</a:t>
            </a:r>
          </a:p>
        </p:txBody>
      </p:sp>
      <p:pic>
        <p:nvPicPr>
          <p:cNvPr id="11" name="Picture 10">
            <a:extLst>
              <a:ext uri="{FF2B5EF4-FFF2-40B4-BE49-F238E27FC236}">
                <a16:creationId xmlns:a16="http://schemas.microsoft.com/office/drawing/2014/main" id="{A8594316-3596-2DD1-2ECC-9734B4924CAD}"/>
              </a:ext>
            </a:extLst>
          </p:cNvPr>
          <p:cNvPicPr>
            <a:picLocks noChangeAspect="1"/>
          </p:cNvPicPr>
          <p:nvPr/>
        </p:nvPicPr>
        <p:blipFill>
          <a:blip r:embed="rId2"/>
          <a:stretch>
            <a:fillRect/>
          </a:stretch>
        </p:blipFill>
        <p:spPr>
          <a:xfrm>
            <a:off x="413766" y="428740"/>
            <a:ext cx="6030167" cy="323895"/>
          </a:xfrm>
          <a:prstGeom prst="rect">
            <a:avLst/>
          </a:prstGeom>
        </p:spPr>
      </p:pic>
      <p:cxnSp>
        <p:nvCxnSpPr>
          <p:cNvPr id="17" name="Straight Arrow Connector 16">
            <a:extLst>
              <a:ext uri="{FF2B5EF4-FFF2-40B4-BE49-F238E27FC236}">
                <a16:creationId xmlns:a16="http://schemas.microsoft.com/office/drawing/2014/main" id="{CC0C8937-30EE-12C9-6D50-3B554DFEBA65}"/>
              </a:ext>
            </a:extLst>
          </p:cNvPr>
          <p:cNvCxnSpPr>
            <a:cxnSpLocks/>
          </p:cNvCxnSpPr>
          <p:nvPr/>
        </p:nvCxnSpPr>
        <p:spPr>
          <a:xfrm>
            <a:off x="5872734" y="351940"/>
            <a:ext cx="0" cy="4774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D1E027C-0F58-CB03-E99F-3ABBEB57C070}"/>
              </a:ext>
            </a:extLst>
          </p:cNvPr>
          <p:cNvSpPr txBox="1"/>
          <p:nvPr/>
        </p:nvSpPr>
        <p:spPr>
          <a:xfrm>
            <a:off x="413766" y="75725"/>
            <a:ext cx="2719399" cy="369332"/>
          </a:xfrm>
          <a:prstGeom prst="rect">
            <a:avLst/>
          </a:prstGeom>
          <a:solidFill>
            <a:srgbClr val="FFC000"/>
          </a:solidFill>
          <a:ln>
            <a:solidFill>
              <a:srgbClr val="FFC000"/>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Continue the Quote page </a:t>
            </a:r>
            <a:endParaRPr lang="en-AU" dirty="0"/>
          </a:p>
        </p:txBody>
      </p:sp>
    </p:spTree>
    <p:extLst>
      <p:ext uri="{BB962C8B-B14F-4D97-AF65-F5344CB8AC3E}">
        <p14:creationId xmlns:p14="http://schemas.microsoft.com/office/powerpoint/2010/main" val="125158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8FA664-82BA-F90B-68CA-8A351A54ED84}"/>
              </a:ext>
            </a:extLst>
          </p:cNvPr>
          <p:cNvPicPr>
            <a:picLocks noChangeAspect="1"/>
          </p:cNvPicPr>
          <p:nvPr/>
        </p:nvPicPr>
        <p:blipFill>
          <a:blip r:embed="rId2"/>
          <a:stretch>
            <a:fillRect/>
          </a:stretch>
        </p:blipFill>
        <p:spPr>
          <a:xfrm>
            <a:off x="5798626" y="1065715"/>
            <a:ext cx="5789102" cy="3260928"/>
          </a:xfrm>
          <a:prstGeom prst="rect">
            <a:avLst/>
          </a:prstGeom>
        </p:spPr>
      </p:pic>
      <p:pic>
        <p:nvPicPr>
          <p:cNvPr id="7" name="Picture 6">
            <a:extLst>
              <a:ext uri="{FF2B5EF4-FFF2-40B4-BE49-F238E27FC236}">
                <a16:creationId xmlns:a16="http://schemas.microsoft.com/office/drawing/2014/main" id="{83595C2D-588E-F98F-EDAB-A55E75E18030}"/>
              </a:ext>
            </a:extLst>
          </p:cNvPr>
          <p:cNvPicPr>
            <a:picLocks noChangeAspect="1"/>
          </p:cNvPicPr>
          <p:nvPr/>
        </p:nvPicPr>
        <p:blipFill>
          <a:blip r:embed="rId3"/>
          <a:stretch>
            <a:fillRect/>
          </a:stretch>
        </p:blipFill>
        <p:spPr>
          <a:xfrm>
            <a:off x="165542" y="28254"/>
            <a:ext cx="2778826" cy="475408"/>
          </a:xfrm>
          <a:prstGeom prst="rect">
            <a:avLst/>
          </a:prstGeom>
        </p:spPr>
      </p:pic>
      <p:sp>
        <p:nvSpPr>
          <p:cNvPr id="8" name="TextBox 7">
            <a:extLst>
              <a:ext uri="{FF2B5EF4-FFF2-40B4-BE49-F238E27FC236}">
                <a16:creationId xmlns:a16="http://schemas.microsoft.com/office/drawing/2014/main" id="{DB19F168-79EF-3CEF-E5D0-71797AECE9F6}"/>
              </a:ext>
            </a:extLst>
          </p:cNvPr>
          <p:cNvSpPr txBox="1"/>
          <p:nvPr/>
        </p:nvSpPr>
        <p:spPr>
          <a:xfrm>
            <a:off x="145330" y="526273"/>
            <a:ext cx="2233304" cy="230832"/>
          </a:xfrm>
          <a:prstGeom prst="rect">
            <a:avLst/>
          </a:prstGeom>
          <a:solidFill>
            <a:srgbClr val="FFFF00"/>
          </a:solidFill>
        </p:spPr>
        <p:txBody>
          <a:bodyPr wrap="none" rtlCol="0">
            <a:spAutoFit/>
          </a:bodyPr>
          <a:lstStyle/>
          <a:p>
            <a:r>
              <a:rPr lang="en-AU" sz="900" dirty="0">
                <a:highlight>
                  <a:srgbClr val="FFFF00"/>
                </a:highlight>
              </a:rPr>
              <a:t>combined-car-brands – Excel Worksheet </a:t>
            </a:r>
          </a:p>
        </p:txBody>
      </p:sp>
      <p:pic>
        <p:nvPicPr>
          <p:cNvPr id="10" name="Picture 9">
            <a:extLst>
              <a:ext uri="{FF2B5EF4-FFF2-40B4-BE49-F238E27FC236}">
                <a16:creationId xmlns:a16="http://schemas.microsoft.com/office/drawing/2014/main" id="{2B4424A6-55B1-75B5-E710-9DAECD274166}"/>
              </a:ext>
            </a:extLst>
          </p:cNvPr>
          <p:cNvPicPr>
            <a:picLocks noChangeAspect="1"/>
          </p:cNvPicPr>
          <p:nvPr/>
        </p:nvPicPr>
        <p:blipFill>
          <a:blip r:embed="rId4"/>
          <a:stretch>
            <a:fillRect/>
          </a:stretch>
        </p:blipFill>
        <p:spPr>
          <a:xfrm>
            <a:off x="165542" y="802537"/>
            <a:ext cx="960601" cy="263178"/>
          </a:xfrm>
          <a:prstGeom prst="rect">
            <a:avLst/>
          </a:prstGeom>
        </p:spPr>
      </p:pic>
      <p:pic>
        <p:nvPicPr>
          <p:cNvPr id="18" name="Picture 17">
            <a:extLst>
              <a:ext uri="{FF2B5EF4-FFF2-40B4-BE49-F238E27FC236}">
                <a16:creationId xmlns:a16="http://schemas.microsoft.com/office/drawing/2014/main" id="{724DDBFC-F7DE-BC7E-3109-95CF96D42422}"/>
              </a:ext>
            </a:extLst>
          </p:cNvPr>
          <p:cNvPicPr>
            <a:picLocks noChangeAspect="1"/>
          </p:cNvPicPr>
          <p:nvPr/>
        </p:nvPicPr>
        <p:blipFill>
          <a:blip r:embed="rId5"/>
          <a:stretch>
            <a:fillRect/>
          </a:stretch>
        </p:blipFill>
        <p:spPr>
          <a:xfrm>
            <a:off x="2648774" y="1065715"/>
            <a:ext cx="2207726" cy="1914864"/>
          </a:xfrm>
          <a:prstGeom prst="rect">
            <a:avLst/>
          </a:prstGeom>
        </p:spPr>
      </p:pic>
      <p:pic>
        <p:nvPicPr>
          <p:cNvPr id="20" name="Picture 19">
            <a:extLst>
              <a:ext uri="{FF2B5EF4-FFF2-40B4-BE49-F238E27FC236}">
                <a16:creationId xmlns:a16="http://schemas.microsoft.com/office/drawing/2014/main" id="{0CD7F3E2-6630-AA7C-CAED-498809F9BA9C}"/>
              </a:ext>
            </a:extLst>
          </p:cNvPr>
          <p:cNvPicPr>
            <a:picLocks noChangeAspect="1"/>
          </p:cNvPicPr>
          <p:nvPr/>
        </p:nvPicPr>
        <p:blipFill>
          <a:blip r:embed="rId6"/>
          <a:stretch>
            <a:fillRect/>
          </a:stretch>
        </p:blipFill>
        <p:spPr>
          <a:xfrm>
            <a:off x="145330" y="1051429"/>
            <a:ext cx="2216156" cy="1891661"/>
          </a:xfrm>
          <a:prstGeom prst="rect">
            <a:avLst/>
          </a:prstGeom>
        </p:spPr>
      </p:pic>
      <p:pic>
        <p:nvPicPr>
          <p:cNvPr id="22" name="Picture 21">
            <a:extLst>
              <a:ext uri="{FF2B5EF4-FFF2-40B4-BE49-F238E27FC236}">
                <a16:creationId xmlns:a16="http://schemas.microsoft.com/office/drawing/2014/main" id="{E896BB64-FC71-76BB-DD1C-57DF73E2A269}"/>
              </a:ext>
            </a:extLst>
          </p:cNvPr>
          <p:cNvPicPr>
            <a:picLocks noChangeAspect="1"/>
          </p:cNvPicPr>
          <p:nvPr/>
        </p:nvPicPr>
        <p:blipFill>
          <a:blip r:embed="rId7"/>
          <a:stretch>
            <a:fillRect/>
          </a:stretch>
        </p:blipFill>
        <p:spPr>
          <a:xfrm>
            <a:off x="101866" y="2974106"/>
            <a:ext cx="2251736" cy="373286"/>
          </a:xfrm>
          <a:prstGeom prst="rect">
            <a:avLst/>
          </a:prstGeom>
        </p:spPr>
      </p:pic>
      <p:sp>
        <p:nvSpPr>
          <p:cNvPr id="28" name="TextBox 27">
            <a:extLst>
              <a:ext uri="{FF2B5EF4-FFF2-40B4-BE49-F238E27FC236}">
                <a16:creationId xmlns:a16="http://schemas.microsoft.com/office/drawing/2014/main" id="{90A1F578-2255-8606-B191-F46E6B7660BD}"/>
              </a:ext>
            </a:extLst>
          </p:cNvPr>
          <p:cNvSpPr txBox="1"/>
          <p:nvPr/>
        </p:nvSpPr>
        <p:spPr>
          <a:xfrm>
            <a:off x="1046010" y="3805564"/>
            <a:ext cx="1307592" cy="461665"/>
          </a:xfrm>
          <a:prstGeom prst="rect">
            <a:avLst/>
          </a:prstGeom>
          <a:noFill/>
          <a:ln>
            <a:solidFill>
              <a:srgbClr val="FFC000"/>
            </a:solidFill>
          </a:ln>
        </p:spPr>
        <p:txBody>
          <a:bodyPr wrap="square">
            <a:spAutoFit/>
          </a:bodyPr>
          <a:lstStyle/>
          <a:p>
            <a:r>
              <a:rPr lang="en-AU" sz="600" dirty="0"/>
              <a:t>Single-phase charging delivers up to 7 kW and is ideal for homes with a single-phase power supply or a single-phase solar PV system.</a:t>
            </a:r>
          </a:p>
        </p:txBody>
      </p:sp>
      <p:sp>
        <p:nvSpPr>
          <p:cNvPr id="30" name="TextBox 29">
            <a:extLst>
              <a:ext uri="{FF2B5EF4-FFF2-40B4-BE49-F238E27FC236}">
                <a16:creationId xmlns:a16="http://schemas.microsoft.com/office/drawing/2014/main" id="{421179A0-71FD-3384-618E-812221B8FD9B}"/>
              </a:ext>
            </a:extLst>
          </p:cNvPr>
          <p:cNvSpPr txBox="1"/>
          <p:nvPr/>
        </p:nvSpPr>
        <p:spPr>
          <a:xfrm>
            <a:off x="2944368" y="3850911"/>
            <a:ext cx="1807914" cy="461665"/>
          </a:xfrm>
          <a:prstGeom prst="rect">
            <a:avLst/>
          </a:prstGeom>
          <a:noFill/>
          <a:ln>
            <a:solidFill>
              <a:schemeClr val="accent2">
                <a:lumMod val="60000"/>
                <a:lumOff val="40000"/>
              </a:schemeClr>
            </a:solidFill>
          </a:ln>
        </p:spPr>
        <p:txBody>
          <a:bodyPr wrap="square">
            <a:spAutoFit/>
          </a:bodyPr>
          <a:lstStyle/>
          <a:p>
            <a:r>
              <a:rPr lang="en-AU" sz="600" dirty="0"/>
              <a:t>Three-phase charging delivers up to 22 kW and is ideal for homes with a three-phase power supply or three-phase solar PV system. Vehicles limited to 11 kW will charge at a maximum rate of 11 kW.</a:t>
            </a:r>
          </a:p>
        </p:txBody>
      </p:sp>
      <p:pic>
        <p:nvPicPr>
          <p:cNvPr id="32" name="Picture 31">
            <a:extLst>
              <a:ext uri="{FF2B5EF4-FFF2-40B4-BE49-F238E27FC236}">
                <a16:creationId xmlns:a16="http://schemas.microsoft.com/office/drawing/2014/main" id="{C2BAC20E-A0A8-DD85-653D-A663A4EE80F7}"/>
              </a:ext>
            </a:extLst>
          </p:cNvPr>
          <p:cNvPicPr>
            <a:picLocks noChangeAspect="1"/>
          </p:cNvPicPr>
          <p:nvPr/>
        </p:nvPicPr>
        <p:blipFill>
          <a:blip r:embed="rId8"/>
          <a:stretch>
            <a:fillRect/>
          </a:stretch>
        </p:blipFill>
        <p:spPr>
          <a:xfrm>
            <a:off x="86062" y="4415170"/>
            <a:ext cx="2122689" cy="251807"/>
          </a:xfrm>
          <a:prstGeom prst="rect">
            <a:avLst/>
          </a:prstGeom>
        </p:spPr>
      </p:pic>
      <p:pic>
        <p:nvPicPr>
          <p:cNvPr id="34" name="Picture 33">
            <a:extLst>
              <a:ext uri="{FF2B5EF4-FFF2-40B4-BE49-F238E27FC236}">
                <a16:creationId xmlns:a16="http://schemas.microsoft.com/office/drawing/2014/main" id="{16CDA921-F0BF-9221-A7B9-C0D52F4938A1}"/>
              </a:ext>
            </a:extLst>
          </p:cNvPr>
          <p:cNvPicPr>
            <a:picLocks noChangeAspect="1"/>
          </p:cNvPicPr>
          <p:nvPr/>
        </p:nvPicPr>
        <p:blipFill>
          <a:blip r:embed="rId9"/>
          <a:stretch>
            <a:fillRect/>
          </a:stretch>
        </p:blipFill>
        <p:spPr>
          <a:xfrm>
            <a:off x="101866" y="4712144"/>
            <a:ext cx="3700929" cy="872341"/>
          </a:xfrm>
          <a:prstGeom prst="rect">
            <a:avLst/>
          </a:prstGeom>
        </p:spPr>
      </p:pic>
      <p:pic>
        <p:nvPicPr>
          <p:cNvPr id="36" name="Picture 35">
            <a:extLst>
              <a:ext uri="{FF2B5EF4-FFF2-40B4-BE49-F238E27FC236}">
                <a16:creationId xmlns:a16="http://schemas.microsoft.com/office/drawing/2014/main" id="{C52D9B4E-06E7-60E7-1682-70C9C456A480}"/>
              </a:ext>
            </a:extLst>
          </p:cNvPr>
          <p:cNvPicPr>
            <a:picLocks noChangeAspect="1"/>
          </p:cNvPicPr>
          <p:nvPr/>
        </p:nvPicPr>
        <p:blipFill>
          <a:blip r:embed="rId10"/>
          <a:stretch>
            <a:fillRect/>
          </a:stretch>
        </p:blipFill>
        <p:spPr>
          <a:xfrm>
            <a:off x="96228" y="5619407"/>
            <a:ext cx="987323" cy="296197"/>
          </a:xfrm>
          <a:prstGeom prst="rect">
            <a:avLst/>
          </a:prstGeom>
        </p:spPr>
      </p:pic>
      <p:pic>
        <p:nvPicPr>
          <p:cNvPr id="38" name="Picture 37">
            <a:extLst>
              <a:ext uri="{FF2B5EF4-FFF2-40B4-BE49-F238E27FC236}">
                <a16:creationId xmlns:a16="http://schemas.microsoft.com/office/drawing/2014/main" id="{0ED57FED-D7CC-3B45-6CA0-82984166FA9A}"/>
              </a:ext>
            </a:extLst>
          </p:cNvPr>
          <p:cNvPicPr>
            <a:picLocks noChangeAspect="1"/>
          </p:cNvPicPr>
          <p:nvPr/>
        </p:nvPicPr>
        <p:blipFill>
          <a:blip r:embed="rId11"/>
          <a:stretch>
            <a:fillRect/>
          </a:stretch>
        </p:blipFill>
        <p:spPr>
          <a:xfrm>
            <a:off x="145330" y="5915604"/>
            <a:ext cx="2114986" cy="552224"/>
          </a:xfrm>
          <a:prstGeom prst="rect">
            <a:avLst/>
          </a:prstGeom>
        </p:spPr>
      </p:pic>
      <p:pic>
        <p:nvPicPr>
          <p:cNvPr id="40" name="Picture 39">
            <a:extLst>
              <a:ext uri="{FF2B5EF4-FFF2-40B4-BE49-F238E27FC236}">
                <a16:creationId xmlns:a16="http://schemas.microsoft.com/office/drawing/2014/main" id="{D0542245-E0C4-BB24-4C73-B9DE3CEEAD67}"/>
              </a:ext>
            </a:extLst>
          </p:cNvPr>
          <p:cNvPicPr>
            <a:picLocks noChangeAspect="1"/>
          </p:cNvPicPr>
          <p:nvPr/>
        </p:nvPicPr>
        <p:blipFill>
          <a:blip r:embed="rId12"/>
          <a:stretch>
            <a:fillRect/>
          </a:stretch>
        </p:blipFill>
        <p:spPr>
          <a:xfrm>
            <a:off x="78948" y="6542376"/>
            <a:ext cx="2076740" cy="287370"/>
          </a:xfrm>
          <a:prstGeom prst="rect">
            <a:avLst/>
          </a:prstGeom>
        </p:spPr>
      </p:pic>
      <p:pic>
        <p:nvPicPr>
          <p:cNvPr id="42" name="Picture 41">
            <a:extLst>
              <a:ext uri="{FF2B5EF4-FFF2-40B4-BE49-F238E27FC236}">
                <a16:creationId xmlns:a16="http://schemas.microsoft.com/office/drawing/2014/main" id="{514C6C21-8F94-B09E-4B1F-EC09BABFC0E6}"/>
              </a:ext>
            </a:extLst>
          </p:cNvPr>
          <p:cNvPicPr>
            <a:picLocks noChangeAspect="1"/>
          </p:cNvPicPr>
          <p:nvPr/>
        </p:nvPicPr>
        <p:blipFill>
          <a:blip r:embed="rId13"/>
          <a:stretch>
            <a:fillRect/>
          </a:stretch>
        </p:blipFill>
        <p:spPr>
          <a:xfrm>
            <a:off x="145330" y="3355928"/>
            <a:ext cx="4711170" cy="392390"/>
          </a:xfrm>
          <a:prstGeom prst="rect">
            <a:avLst/>
          </a:prstGeom>
        </p:spPr>
      </p:pic>
      <p:cxnSp>
        <p:nvCxnSpPr>
          <p:cNvPr id="44" name="Connector: Elbow 43">
            <a:extLst>
              <a:ext uri="{FF2B5EF4-FFF2-40B4-BE49-F238E27FC236}">
                <a16:creationId xmlns:a16="http://schemas.microsoft.com/office/drawing/2014/main" id="{90CAF421-A34B-5599-9708-832A0B6B4070}"/>
              </a:ext>
            </a:extLst>
          </p:cNvPr>
          <p:cNvCxnSpPr/>
          <p:nvPr/>
        </p:nvCxnSpPr>
        <p:spPr>
          <a:xfrm rot="16200000" flipH="1">
            <a:off x="3982521" y="3642431"/>
            <a:ext cx="312183" cy="10477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1200269F-2F10-FFB6-F08A-B5A70804A73C}"/>
              </a:ext>
            </a:extLst>
          </p:cNvPr>
          <p:cNvCxnSpPr/>
          <p:nvPr/>
        </p:nvCxnSpPr>
        <p:spPr>
          <a:xfrm rot="16200000" flipH="1">
            <a:off x="1604487" y="3653525"/>
            <a:ext cx="266838" cy="7184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pic>
        <p:nvPicPr>
          <p:cNvPr id="48" name="Picture 47">
            <a:extLst>
              <a:ext uri="{FF2B5EF4-FFF2-40B4-BE49-F238E27FC236}">
                <a16:creationId xmlns:a16="http://schemas.microsoft.com/office/drawing/2014/main" id="{5AA7DCE1-AB30-3B1C-1C34-06A16059D295}"/>
              </a:ext>
            </a:extLst>
          </p:cNvPr>
          <p:cNvPicPr>
            <a:picLocks noChangeAspect="1"/>
          </p:cNvPicPr>
          <p:nvPr/>
        </p:nvPicPr>
        <p:blipFill>
          <a:blip r:embed="rId14"/>
          <a:stretch>
            <a:fillRect/>
          </a:stretch>
        </p:blipFill>
        <p:spPr>
          <a:xfrm>
            <a:off x="3269090" y="67744"/>
            <a:ext cx="5653820" cy="331119"/>
          </a:xfrm>
          <a:prstGeom prst="rect">
            <a:avLst/>
          </a:prstGeom>
        </p:spPr>
      </p:pic>
    </p:spTree>
    <p:extLst>
      <p:ext uri="{BB962C8B-B14F-4D97-AF65-F5344CB8AC3E}">
        <p14:creationId xmlns:p14="http://schemas.microsoft.com/office/powerpoint/2010/main" val="2241297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F0B146E3-6C61-7084-748B-B47B23194AF2}"/>
              </a:ext>
            </a:extLst>
          </p:cNvPr>
          <p:cNvPicPr>
            <a:picLocks noChangeAspect="1"/>
          </p:cNvPicPr>
          <p:nvPr/>
        </p:nvPicPr>
        <p:blipFill>
          <a:blip r:embed="rId2"/>
          <a:stretch>
            <a:fillRect/>
          </a:stretch>
        </p:blipFill>
        <p:spPr>
          <a:xfrm>
            <a:off x="1584082" y="533400"/>
            <a:ext cx="6962461" cy="5305550"/>
          </a:xfrm>
          <a:prstGeom prst="rect">
            <a:avLst/>
          </a:prstGeom>
        </p:spPr>
      </p:pic>
      <p:pic>
        <p:nvPicPr>
          <p:cNvPr id="9" name="Picture 8">
            <a:extLst>
              <a:ext uri="{FF2B5EF4-FFF2-40B4-BE49-F238E27FC236}">
                <a16:creationId xmlns:a16="http://schemas.microsoft.com/office/drawing/2014/main" id="{5BF3A479-4C5F-34E7-00A2-3F83FC97E0DA}"/>
              </a:ext>
            </a:extLst>
          </p:cNvPr>
          <p:cNvPicPr>
            <a:picLocks noChangeAspect="1"/>
          </p:cNvPicPr>
          <p:nvPr/>
        </p:nvPicPr>
        <p:blipFill>
          <a:blip r:embed="rId3"/>
          <a:stretch>
            <a:fillRect/>
          </a:stretch>
        </p:blipFill>
        <p:spPr>
          <a:xfrm>
            <a:off x="8998648" y="3049929"/>
            <a:ext cx="1524213" cy="1245934"/>
          </a:xfrm>
          <a:prstGeom prst="rect">
            <a:avLst/>
          </a:prstGeom>
          <a:ln>
            <a:solidFill>
              <a:schemeClr val="tx1">
                <a:lumMod val="95000"/>
                <a:lumOff val="5000"/>
              </a:schemeClr>
            </a:solidFill>
          </a:ln>
        </p:spPr>
      </p:pic>
      <p:cxnSp>
        <p:nvCxnSpPr>
          <p:cNvPr id="11" name="Straight Arrow Connector 10">
            <a:extLst>
              <a:ext uri="{FF2B5EF4-FFF2-40B4-BE49-F238E27FC236}">
                <a16:creationId xmlns:a16="http://schemas.microsoft.com/office/drawing/2014/main" id="{0C48CC6A-0348-8A4C-DC60-AB842824AE29}"/>
              </a:ext>
            </a:extLst>
          </p:cNvPr>
          <p:cNvCxnSpPr>
            <a:cxnSpLocks/>
          </p:cNvCxnSpPr>
          <p:nvPr/>
        </p:nvCxnSpPr>
        <p:spPr>
          <a:xfrm>
            <a:off x="8092741" y="3610778"/>
            <a:ext cx="8702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28F6522C-5FD3-811F-7220-266943BFEA67}"/>
              </a:ext>
            </a:extLst>
          </p:cNvPr>
          <p:cNvPicPr>
            <a:picLocks noChangeAspect="1"/>
          </p:cNvPicPr>
          <p:nvPr/>
        </p:nvPicPr>
        <p:blipFill>
          <a:blip r:embed="rId4"/>
          <a:stretch>
            <a:fillRect/>
          </a:stretch>
        </p:blipFill>
        <p:spPr>
          <a:xfrm>
            <a:off x="1003212" y="4822383"/>
            <a:ext cx="628738" cy="2035617"/>
          </a:xfrm>
          <a:prstGeom prst="rect">
            <a:avLst/>
          </a:prstGeom>
          <a:ln>
            <a:solidFill>
              <a:schemeClr val="tx1"/>
            </a:solidFill>
          </a:ln>
        </p:spPr>
      </p:pic>
      <p:cxnSp>
        <p:nvCxnSpPr>
          <p:cNvPr id="15" name="Connector: Elbow 14">
            <a:extLst>
              <a:ext uri="{FF2B5EF4-FFF2-40B4-BE49-F238E27FC236}">
                <a16:creationId xmlns:a16="http://schemas.microsoft.com/office/drawing/2014/main" id="{3BCCB9FF-7C1C-CDDB-05D5-1C168270BAB2}"/>
              </a:ext>
            </a:extLst>
          </p:cNvPr>
          <p:cNvCxnSpPr>
            <a:cxnSpLocks/>
            <a:endCxn id="13" idx="1"/>
          </p:cNvCxnSpPr>
          <p:nvPr/>
        </p:nvCxnSpPr>
        <p:spPr>
          <a:xfrm rot="5400000">
            <a:off x="161132" y="4452859"/>
            <a:ext cx="2229414" cy="545253"/>
          </a:xfrm>
          <a:prstGeom prst="bentConnector4">
            <a:avLst>
              <a:gd name="adj1" fmla="val 27173"/>
              <a:gd name="adj2" fmla="val 14192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A4F20A2-AEF1-8B44-EACA-1E0316C2BC72}"/>
              </a:ext>
            </a:extLst>
          </p:cNvPr>
          <p:cNvCxnSpPr>
            <a:cxnSpLocks/>
          </p:cNvCxnSpPr>
          <p:nvPr/>
        </p:nvCxnSpPr>
        <p:spPr>
          <a:xfrm flipH="1">
            <a:off x="1548460" y="3610778"/>
            <a:ext cx="327965" cy="0"/>
          </a:xfrm>
          <a:prstGeom prst="line">
            <a:avLst/>
          </a:prstGeom>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8EBF38AE-24DA-8C18-A252-73CDF5A948E5}"/>
              </a:ext>
            </a:extLst>
          </p:cNvPr>
          <p:cNvPicPr>
            <a:picLocks noChangeAspect="1"/>
          </p:cNvPicPr>
          <p:nvPr/>
        </p:nvPicPr>
        <p:blipFill>
          <a:blip r:embed="rId5"/>
          <a:stretch>
            <a:fillRect/>
          </a:stretch>
        </p:blipFill>
        <p:spPr>
          <a:xfrm>
            <a:off x="9198701" y="4944321"/>
            <a:ext cx="1324160" cy="796273"/>
          </a:xfrm>
          <a:prstGeom prst="rect">
            <a:avLst/>
          </a:prstGeom>
          <a:ln>
            <a:solidFill>
              <a:schemeClr val="tx1">
                <a:lumMod val="95000"/>
                <a:lumOff val="5000"/>
              </a:schemeClr>
            </a:solidFill>
          </a:ln>
        </p:spPr>
      </p:pic>
      <p:cxnSp>
        <p:nvCxnSpPr>
          <p:cNvPr id="23" name="Connector: Elbow 22">
            <a:extLst>
              <a:ext uri="{FF2B5EF4-FFF2-40B4-BE49-F238E27FC236}">
                <a16:creationId xmlns:a16="http://schemas.microsoft.com/office/drawing/2014/main" id="{A5B740DC-5322-FA7E-BC21-659F1F750728}"/>
              </a:ext>
            </a:extLst>
          </p:cNvPr>
          <p:cNvCxnSpPr>
            <a:cxnSpLocks/>
            <a:endCxn id="21" idx="1"/>
          </p:cNvCxnSpPr>
          <p:nvPr/>
        </p:nvCxnSpPr>
        <p:spPr>
          <a:xfrm>
            <a:off x="8092741" y="4295863"/>
            <a:ext cx="1105960" cy="104659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B04C127D-FD5F-4B33-624B-3BE210B511B2}"/>
              </a:ext>
            </a:extLst>
          </p:cNvPr>
          <p:cNvCxnSpPr>
            <a:cxnSpLocks/>
          </p:cNvCxnSpPr>
          <p:nvPr/>
        </p:nvCxnSpPr>
        <p:spPr>
          <a:xfrm>
            <a:off x="4371975" y="4930857"/>
            <a:ext cx="2324100" cy="176237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A64B6E11-D712-34E6-429B-FAF3B0D1C416}"/>
              </a:ext>
            </a:extLst>
          </p:cNvPr>
          <p:cNvSpPr txBox="1"/>
          <p:nvPr/>
        </p:nvSpPr>
        <p:spPr>
          <a:xfrm>
            <a:off x="6696074" y="6543676"/>
            <a:ext cx="1685925" cy="215444"/>
          </a:xfrm>
          <a:prstGeom prst="rect">
            <a:avLst/>
          </a:prstGeom>
          <a:noFill/>
          <a:ln>
            <a:solidFill>
              <a:schemeClr val="tx1"/>
            </a:solidFill>
          </a:ln>
        </p:spPr>
        <p:txBody>
          <a:bodyPr wrap="square">
            <a:spAutoFit/>
          </a:bodyPr>
          <a:lstStyle/>
          <a:p>
            <a:r>
              <a:rPr lang="en-AU" sz="800" dirty="0"/>
              <a:t>BexaVolt-Privacy-Policy.doc</a:t>
            </a:r>
          </a:p>
        </p:txBody>
      </p:sp>
      <p:pic>
        <p:nvPicPr>
          <p:cNvPr id="42" name="Picture 41">
            <a:extLst>
              <a:ext uri="{FF2B5EF4-FFF2-40B4-BE49-F238E27FC236}">
                <a16:creationId xmlns:a16="http://schemas.microsoft.com/office/drawing/2014/main" id="{79FAD844-8D6D-EDAE-CECB-DF7475214D3C}"/>
              </a:ext>
            </a:extLst>
          </p:cNvPr>
          <p:cNvPicPr>
            <a:picLocks noChangeAspect="1"/>
          </p:cNvPicPr>
          <p:nvPr/>
        </p:nvPicPr>
        <p:blipFill>
          <a:blip r:embed="rId6"/>
          <a:stretch>
            <a:fillRect/>
          </a:stretch>
        </p:blipFill>
        <p:spPr>
          <a:xfrm>
            <a:off x="675518" y="98880"/>
            <a:ext cx="10840963" cy="533399"/>
          </a:xfrm>
          <a:prstGeom prst="rect">
            <a:avLst/>
          </a:prstGeom>
        </p:spPr>
      </p:pic>
    </p:spTree>
    <p:extLst>
      <p:ext uri="{BB962C8B-B14F-4D97-AF65-F5344CB8AC3E}">
        <p14:creationId xmlns:p14="http://schemas.microsoft.com/office/powerpoint/2010/main" val="1636609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637</Words>
  <Application>Microsoft Office PowerPoint</Application>
  <PresentationFormat>Widescreen</PresentationFormat>
  <Paragraphs>51</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Barlow</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Sudha Puthrasigamani</dc:creator>
  <cp:lastModifiedBy>Sudha Puthrasigamani</cp:lastModifiedBy>
  <cp:revision>2</cp:revision>
  <dcterms:created xsi:type="dcterms:W3CDTF">2026-08-28T23:58:45Z</dcterms:created>
  <dcterms:modified xsi:type="dcterms:W3CDTF">2026-08-29T00:35:19Z</dcterms:modified>
</cp:coreProperties>
</file>